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7629CB-2FED-48DC-AA63-0EA790E98553}" v="118" dt="2025-01-25T07:49:49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Building AN CNN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CD80-A728-5AFE-6BF1-6162EEDBD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a typeface="+mj-lt"/>
                <a:cs typeface="+mj-lt"/>
              </a:rPr>
              <a:t>Introduction to CNNs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63A31-2267-1E16-C7CD-8B08C63C0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ea typeface="+mn-lt"/>
                <a:cs typeface="+mn-lt"/>
              </a:rPr>
              <a:t>Title</a:t>
            </a:r>
            <a:r>
              <a:rPr lang="en-GB" dirty="0">
                <a:ea typeface="+mn-lt"/>
                <a:cs typeface="+mn-lt"/>
              </a:rPr>
              <a:t>: "What is a Convolutional Neural Network (CNN)?"</a:t>
            </a:r>
            <a:endParaRPr lang="en-GB" dirty="0"/>
          </a:p>
          <a:p>
            <a:r>
              <a:rPr lang="en-GB">
                <a:ea typeface="+mn-lt"/>
                <a:cs typeface="+mn-lt"/>
              </a:rPr>
              <a:t>Brief explanation:</a:t>
            </a:r>
            <a:endParaRPr lang="en-GB"/>
          </a:p>
          <a:p>
            <a:pPr lvl="1"/>
            <a:r>
              <a:rPr lang="en-GB" dirty="0">
                <a:ea typeface="+mn-lt"/>
                <a:cs typeface="+mn-lt"/>
              </a:rPr>
              <a:t>"A CNN is a type of deep learning model commonly used for image classification, object detection, etc."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"It automatically learns to identify patterns in data (like images) through layers of neurons."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2391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34E2-D8B3-EE05-BA23-5BFF87A10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Basic Components of a CNN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86A00-F0CA-7F5F-2A54-F790D1668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 b="1" dirty="0">
                <a:ea typeface="+mn-lt"/>
                <a:cs typeface="+mn-lt"/>
              </a:rPr>
              <a:t>Title</a:t>
            </a:r>
            <a:r>
              <a:rPr lang="en-GB" dirty="0">
                <a:ea typeface="+mn-lt"/>
                <a:cs typeface="+mn-lt"/>
              </a:rPr>
              <a:t>: "CNN Building Blocks"</a:t>
            </a:r>
            <a:endParaRPr lang="en-GB" dirty="0"/>
          </a:p>
          <a:p>
            <a:pPr lvl="1"/>
            <a:r>
              <a:rPr lang="en-GB">
                <a:ea typeface="+mn-lt"/>
                <a:cs typeface="+mn-lt"/>
              </a:rPr>
              <a:t>Bullet points: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Convolution Layer</a:t>
            </a:r>
            <a:r>
              <a:rPr lang="en-GB">
                <a:ea typeface="+mn-lt"/>
                <a:cs typeface="+mn-lt"/>
              </a:rPr>
              <a:t>: Extracts features from the input image (filters apply convolution operations).</a:t>
            </a:r>
            <a:endParaRPr lang="en-GB"/>
          </a:p>
          <a:p>
            <a:r>
              <a:rPr lang="en-GB" b="1" dirty="0" err="1">
                <a:ea typeface="+mn-lt"/>
                <a:cs typeface="+mn-lt"/>
              </a:rPr>
              <a:t>ReLU</a:t>
            </a:r>
            <a:r>
              <a:rPr lang="en-GB" b="1" dirty="0">
                <a:ea typeface="+mn-lt"/>
                <a:cs typeface="+mn-lt"/>
              </a:rPr>
              <a:t> Layer</a:t>
            </a:r>
            <a:r>
              <a:rPr lang="en-GB" dirty="0">
                <a:ea typeface="+mn-lt"/>
                <a:cs typeface="+mn-lt"/>
              </a:rPr>
              <a:t>: Introduces non-linearity (helps the model learn more complex patterns).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Pooling Layer</a:t>
            </a:r>
            <a:r>
              <a:rPr lang="en-GB" dirty="0">
                <a:ea typeface="+mn-lt"/>
                <a:cs typeface="+mn-lt"/>
              </a:rPr>
              <a:t>: Reduces dimensionality (</a:t>
            </a:r>
            <a:r>
              <a:rPr lang="en-GB" dirty="0" err="1">
                <a:ea typeface="+mn-lt"/>
                <a:cs typeface="+mn-lt"/>
              </a:rPr>
              <a:t>downsamples</a:t>
            </a:r>
            <a:r>
              <a:rPr lang="en-GB" dirty="0">
                <a:ea typeface="+mn-lt"/>
                <a:cs typeface="+mn-lt"/>
              </a:rPr>
              <a:t> the image while retaining essential features).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Flattening</a:t>
            </a:r>
            <a:r>
              <a:rPr lang="en-GB" dirty="0">
                <a:ea typeface="+mn-lt"/>
                <a:cs typeface="+mn-lt"/>
              </a:rPr>
              <a:t>: Converts the 2D matrix from pooling into a 1D vector for fully connected layers.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Fully Connected Layer</a:t>
            </a:r>
            <a:r>
              <a:rPr lang="en-GB" dirty="0">
                <a:ea typeface="+mn-lt"/>
                <a:cs typeface="+mn-lt"/>
              </a:rPr>
              <a:t>: Makes final predictions.</a:t>
            </a: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671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203A-7B65-0645-0CBF-FD441D9E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err="1">
                <a:latin typeface="Calibri"/>
                <a:ea typeface="Calibri"/>
                <a:cs typeface="Calibri"/>
              </a:rPr>
              <a:t>ReLU</a:t>
            </a:r>
            <a:r>
              <a:rPr lang="en-GB" sz="3600" b="1" dirty="0">
                <a:latin typeface="Calibri"/>
                <a:ea typeface="Calibri"/>
                <a:cs typeface="Calibri"/>
              </a:rPr>
              <a:t>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0EFA2-E004-2110-9C77-420FED0D9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>
                <a:ea typeface="+mn-lt"/>
                <a:cs typeface="+mn-lt"/>
              </a:rPr>
              <a:t>Title</a:t>
            </a:r>
            <a:r>
              <a:rPr lang="en-GB">
                <a:ea typeface="+mn-lt"/>
                <a:cs typeface="+mn-lt"/>
              </a:rPr>
              <a:t>: "ReLU Activation Function"</a:t>
            </a:r>
            <a:endParaRPr lang="en-US" b="1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Explanation:</a:t>
            </a:r>
          </a:p>
          <a:p>
            <a:pPr lvl="1"/>
            <a:r>
              <a:rPr lang="en-GB" sz="2800" dirty="0">
                <a:ea typeface="+mn-lt"/>
                <a:cs typeface="+mn-lt"/>
              </a:rPr>
              <a:t>"</a:t>
            </a:r>
            <a:r>
              <a:rPr lang="en-GB" sz="2800" dirty="0" err="1">
                <a:ea typeface="+mn-lt"/>
                <a:cs typeface="+mn-lt"/>
              </a:rPr>
              <a:t>ReLU</a:t>
            </a:r>
            <a:r>
              <a:rPr lang="en-GB" sz="2800" dirty="0">
                <a:ea typeface="+mn-lt"/>
                <a:cs typeface="+mn-lt"/>
              </a:rPr>
              <a:t> stands for Rectified Linear Unit."</a:t>
            </a:r>
          </a:p>
          <a:p>
            <a:pPr lvl="1"/>
            <a:r>
              <a:rPr lang="en-GB" sz="2800" dirty="0">
                <a:ea typeface="+mn-lt"/>
                <a:cs typeface="+mn-lt"/>
              </a:rPr>
              <a:t>"It replaces all negative values in the input with zero, and keeps positive values as they are."</a:t>
            </a:r>
          </a:p>
          <a:p>
            <a:r>
              <a:rPr lang="en-GB" dirty="0">
                <a:ea typeface="+mn-lt"/>
                <a:cs typeface="+mn-lt"/>
              </a:rPr>
              <a:t>Visual: Show a graph of </a:t>
            </a:r>
            <a:r>
              <a:rPr lang="en-GB" dirty="0" err="1">
                <a:ea typeface="+mn-lt"/>
                <a:cs typeface="+mn-lt"/>
              </a:rPr>
              <a:t>ReLU</a:t>
            </a:r>
            <a:r>
              <a:rPr lang="en-GB" dirty="0">
                <a:ea typeface="+mn-lt"/>
                <a:cs typeface="+mn-lt"/>
              </a:rPr>
              <a:t> function.</a:t>
            </a:r>
          </a:p>
          <a:p>
            <a:pPr lvl="1"/>
            <a:r>
              <a:rPr lang="en-GB" sz="2800" dirty="0">
                <a:ea typeface="+mn-lt"/>
                <a:cs typeface="+mn-lt"/>
              </a:rPr>
              <a:t>Y-axis: Output, X-axis: Input.</a:t>
            </a:r>
          </a:p>
          <a:p>
            <a:pPr lvl="1"/>
            <a:r>
              <a:rPr lang="en-GB" sz="2800" dirty="0">
                <a:ea typeface="+mn-lt"/>
                <a:cs typeface="+mn-lt"/>
              </a:rPr>
              <a:t>For x&lt;0, y=0; for x&gt;0, y=x.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183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7653-3696-A2BE-813B-3E174929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>
                <a:latin typeface="Calibri"/>
                <a:ea typeface="Calibri"/>
                <a:cs typeface="Calibri"/>
              </a:rPr>
              <a:t>Pooling Layer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83A28-4732-E0EE-1FE0-EC99B98D1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>
                <a:ea typeface="+mn-lt"/>
                <a:cs typeface="+mn-lt"/>
              </a:rPr>
              <a:t>Title</a:t>
            </a:r>
            <a:r>
              <a:rPr lang="en-GB">
                <a:ea typeface="+mn-lt"/>
                <a:cs typeface="+mn-lt"/>
              </a:rPr>
              <a:t>: "Pooling Layer: Max Pooling"</a:t>
            </a:r>
            <a:endParaRPr lang="en-US" b="1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Explanation: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"Pooling reduces the size of the feature map, making the model more efficient."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Max Pooling</a:t>
            </a:r>
            <a:r>
              <a:rPr lang="en-GB" dirty="0">
                <a:ea typeface="+mn-lt"/>
                <a:cs typeface="+mn-lt"/>
              </a:rPr>
              <a:t>: Takes the maximum value from each patch of the feature map.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Helps in </a:t>
            </a:r>
            <a:r>
              <a:rPr lang="en-GB" b="1" dirty="0">
                <a:ea typeface="+mn-lt"/>
                <a:cs typeface="+mn-lt"/>
              </a:rPr>
              <a:t>reducing computation</a:t>
            </a:r>
            <a:r>
              <a:rPr lang="en-GB" dirty="0">
                <a:ea typeface="+mn-lt"/>
                <a:cs typeface="+mn-lt"/>
              </a:rPr>
              <a:t> and </a:t>
            </a:r>
            <a:r>
              <a:rPr lang="en-GB" b="1" dirty="0">
                <a:ea typeface="+mn-lt"/>
                <a:cs typeface="+mn-lt"/>
              </a:rPr>
              <a:t>overfitting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Visual: Show an image with a 2x2 pooling operation on a feature map.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86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7CA2-DB85-9DAA-A256-2F0623BC3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latin typeface="Calibri"/>
                <a:ea typeface="Calibri"/>
                <a:cs typeface="Calibri"/>
              </a:rPr>
              <a:t>Flattening Layer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C3C5D-A18D-22A9-A105-61FC85F9D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r>
              <a:rPr lang="en-GB" b="1">
                <a:ea typeface="+mn-lt"/>
                <a:cs typeface="+mn-lt"/>
              </a:rPr>
              <a:t>Title</a:t>
            </a:r>
            <a:r>
              <a:rPr lang="en-GB">
                <a:ea typeface="+mn-lt"/>
                <a:cs typeface="+mn-lt"/>
              </a:rPr>
              <a:t>: "Flattening"</a:t>
            </a:r>
            <a:endParaRPr lang="en-GB"/>
          </a:p>
          <a:p>
            <a:r>
              <a:rPr lang="en-GB">
                <a:ea typeface="+mn-lt"/>
                <a:cs typeface="+mn-lt"/>
              </a:rPr>
              <a:t>Explanation:</a:t>
            </a:r>
            <a:endParaRPr lang="en-GB"/>
          </a:p>
          <a:p>
            <a:pPr lvl="1"/>
            <a:r>
              <a:rPr lang="en-GB" dirty="0">
                <a:ea typeface="+mn-lt"/>
                <a:cs typeface="+mn-lt"/>
              </a:rPr>
              <a:t>"Flattening converts a 2D matrix into a 1D vector."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"This step prepares the data for the fully connected layers."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Visual: Show an image of a 2D feature map getting flattened into a 1D vector.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0118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FE3C-CEEB-1321-DFE9-31595AA6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a typeface="+mj-lt"/>
                <a:cs typeface="+mj-lt"/>
              </a:rPr>
              <a:t>Hands-on Practice: Build a CNN in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216D-34CE-09D0-1662-590C28B8C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GB" b="1">
                <a:ea typeface="+mn-lt"/>
                <a:cs typeface="+mn-lt"/>
              </a:rPr>
              <a:t>Title</a:t>
            </a:r>
            <a:r>
              <a:rPr lang="en-GB">
                <a:ea typeface="+mn-lt"/>
                <a:cs typeface="+mn-lt"/>
              </a:rPr>
              <a:t>: "Let's Code Our First CNN!"</a:t>
            </a:r>
            <a:endParaRPr lang="en-GB"/>
          </a:p>
          <a:p>
            <a:r>
              <a:rPr lang="en-GB">
                <a:ea typeface="+mn-lt"/>
                <a:cs typeface="+mn-lt"/>
              </a:rPr>
              <a:t>Example code using </a:t>
            </a:r>
            <a:r>
              <a:rPr lang="en-GB" b="1" err="1">
                <a:ea typeface="+mn-lt"/>
                <a:cs typeface="+mn-lt"/>
              </a:rPr>
              <a:t>Keras</a:t>
            </a:r>
            <a:r>
              <a:rPr lang="en-GB" b="1">
                <a:ea typeface="+mn-lt"/>
                <a:cs typeface="+mn-lt"/>
              </a:rPr>
              <a:t>/TensorFlow</a:t>
            </a:r>
            <a:endParaRPr lang="en-GB"/>
          </a:p>
          <a:p>
            <a:r>
              <a:rPr lang="en-GB" dirty="0"/>
              <a:t>Code :</a:t>
            </a:r>
            <a:br>
              <a:rPr lang="en-GB" dirty="0"/>
            </a:br>
            <a:r>
              <a:rPr lang="en-GB" dirty="0">
                <a:ea typeface="+mn-lt"/>
                <a:cs typeface="+mn-lt"/>
              </a:rPr>
              <a:t>from </a:t>
            </a:r>
            <a:r>
              <a:rPr lang="en-GB" dirty="0" err="1">
                <a:ea typeface="+mn-lt"/>
                <a:cs typeface="+mn-lt"/>
              </a:rPr>
              <a:t>tensorflow.keras.models</a:t>
            </a:r>
            <a:r>
              <a:rPr lang="en-GB" dirty="0">
                <a:ea typeface="+mn-lt"/>
                <a:cs typeface="+mn-lt"/>
              </a:rPr>
              <a:t> import Sequential</a:t>
            </a:r>
            <a:endParaRPr lang="en-GB" dirty="0"/>
          </a:p>
          <a:p>
            <a:r>
              <a:rPr lang="en-GB">
                <a:ea typeface="+mn-lt"/>
                <a:cs typeface="+mn-lt"/>
              </a:rPr>
              <a:t>from </a:t>
            </a:r>
            <a:r>
              <a:rPr lang="en-GB" err="1">
                <a:ea typeface="+mn-lt"/>
                <a:cs typeface="+mn-lt"/>
              </a:rPr>
              <a:t>tensorflow.keras.layers</a:t>
            </a:r>
            <a:r>
              <a:rPr lang="en-GB">
                <a:ea typeface="+mn-lt"/>
                <a:cs typeface="+mn-lt"/>
              </a:rPr>
              <a:t> import Conv2D, MaxPooling2D, Flatten, Dense</a:t>
            </a:r>
            <a:endParaRPr lang="en-GB"/>
          </a:p>
          <a:p>
            <a:endParaRPr lang="en-GB"/>
          </a:p>
          <a:p>
            <a:r>
              <a:rPr lang="en-GB" dirty="0">
                <a:ea typeface="+mn-lt"/>
                <a:cs typeface="+mn-lt"/>
              </a:rPr>
              <a:t>model = Sequential([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    Conv2D(32, (3, 3), activation='</a:t>
            </a:r>
            <a:r>
              <a:rPr lang="en-GB" dirty="0" err="1">
                <a:ea typeface="+mn-lt"/>
                <a:cs typeface="+mn-lt"/>
              </a:rPr>
              <a:t>relu</a:t>
            </a:r>
            <a:r>
              <a:rPr lang="en-GB" dirty="0">
                <a:ea typeface="+mn-lt"/>
                <a:cs typeface="+mn-lt"/>
              </a:rPr>
              <a:t>', </a:t>
            </a:r>
            <a:r>
              <a:rPr lang="en-GB" dirty="0" err="1">
                <a:ea typeface="+mn-lt"/>
                <a:cs typeface="+mn-lt"/>
              </a:rPr>
              <a:t>input_shape</a:t>
            </a:r>
            <a:r>
              <a:rPr lang="en-GB" dirty="0">
                <a:ea typeface="+mn-lt"/>
                <a:cs typeface="+mn-lt"/>
              </a:rPr>
              <a:t>=(28, 28, 1)),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    MaxPooling2D((2, 2)),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    Flatten(),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    Dense(128, activation='</a:t>
            </a:r>
            <a:r>
              <a:rPr lang="en-GB" dirty="0" err="1">
                <a:ea typeface="+mn-lt"/>
                <a:cs typeface="+mn-lt"/>
              </a:rPr>
              <a:t>relu</a:t>
            </a:r>
            <a:r>
              <a:rPr lang="en-GB" dirty="0">
                <a:ea typeface="+mn-lt"/>
                <a:cs typeface="+mn-lt"/>
              </a:rPr>
              <a:t>'),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    Dense(10, activation='</a:t>
            </a:r>
            <a:r>
              <a:rPr lang="en-GB" dirty="0" err="1">
                <a:ea typeface="+mn-lt"/>
                <a:cs typeface="+mn-lt"/>
              </a:rPr>
              <a:t>softmax</a:t>
            </a:r>
            <a:r>
              <a:rPr lang="en-GB" dirty="0">
                <a:ea typeface="+mn-lt"/>
                <a:cs typeface="+mn-lt"/>
              </a:rPr>
              <a:t>')  # 10 classes for digits 0-9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])</a:t>
            </a:r>
            <a:endParaRPr lang="en-GB" dirty="0"/>
          </a:p>
          <a:p>
            <a:endParaRPr lang="en-GB"/>
          </a:p>
          <a:p>
            <a:r>
              <a:rPr lang="en-GB" dirty="0" err="1">
                <a:ea typeface="+mn-lt"/>
                <a:cs typeface="+mn-lt"/>
              </a:rPr>
              <a:t>model.summary</a:t>
            </a:r>
            <a:r>
              <a:rPr lang="en-GB" dirty="0">
                <a:ea typeface="+mn-lt"/>
                <a:cs typeface="+mn-lt"/>
              </a:rPr>
              <a:t>()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630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01A5D-CCF4-7993-519E-1B779D79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latin typeface="Aptos"/>
              </a:rPr>
              <a:t>Explanation of the code: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7710E-6BAF-B456-C0BC-A323405C4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/>
          </a:p>
          <a:p>
            <a:r>
              <a:rPr lang="en-GB">
                <a:ea typeface="+mn-lt"/>
                <a:cs typeface="+mn-lt"/>
              </a:rPr>
              <a:t>Conv2D: Convolution layer with 32 filters.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MaxPooling2D: Pooling layer to reduce dimensions.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Flatten: Converts 2D output to 1D.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Dense: Fully connected layers for classification.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8983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6261-C294-2AA1-E583-596B9EFC1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Calibri"/>
                <a:ea typeface="Calibri"/>
                <a:cs typeface="Calibri"/>
              </a:rPr>
              <a:t>Model Evaluation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C72A4-2105-9E49-43BC-367EF53B5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r>
              <a:rPr lang="en-GB" b="1">
                <a:ea typeface="+mn-lt"/>
                <a:cs typeface="+mn-lt"/>
              </a:rPr>
              <a:t>Title</a:t>
            </a:r>
            <a:r>
              <a:rPr lang="en-GB">
                <a:ea typeface="+mn-lt"/>
                <a:cs typeface="+mn-lt"/>
              </a:rPr>
              <a:t>: "Evaluating Your CNN Model"</a:t>
            </a:r>
            <a:endParaRPr lang="en-GB"/>
          </a:p>
          <a:p>
            <a:r>
              <a:rPr lang="en-GB" b="1" dirty="0">
                <a:ea typeface="+mn-lt"/>
                <a:cs typeface="+mn-lt"/>
              </a:rPr>
              <a:t>Steps to evaluate</a:t>
            </a:r>
            <a:r>
              <a:rPr lang="en-GB" dirty="0">
                <a:ea typeface="+mn-lt"/>
                <a:cs typeface="+mn-lt"/>
              </a:rPr>
              <a:t>: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"Train your model using training data."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"Evaluate the model on test data."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"Measure accuracy and loss."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Visual: Show a graph of training vs validation accuracy/loss.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4817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D902-3AB6-E59B-E2F5-D57D8118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>
                <a:latin typeface="Aptos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32698-3C89-D6F2-10B6-F6AA40FA5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ea typeface="+mn-lt"/>
                <a:cs typeface="+mn-lt"/>
              </a:rPr>
              <a:t>Title</a:t>
            </a:r>
            <a:r>
              <a:rPr lang="en-GB" dirty="0">
                <a:ea typeface="+mn-lt"/>
                <a:cs typeface="+mn-lt"/>
              </a:rPr>
              <a:t>: "Summary"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Key points: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"Convolutional layers extract features from images."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"</a:t>
            </a:r>
            <a:r>
              <a:rPr lang="en-GB" dirty="0" err="1">
                <a:ea typeface="+mn-lt"/>
                <a:cs typeface="+mn-lt"/>
              </a:rPr>
              <a:t>ReLU</a:t>
            </a:r>
            <a:r>
              <a:rPr lang="en-GB" dirty="0">
                <a:ea typeface="+mn-lt"/>
                <a:cs typeface="+mn-lt"/>
              </a:rPr>
              <a:t> introduces non-linearity."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"Pooling reduces dimensionality and makes the model efficient."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"Flattening prepares the data for fully connected layers."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Final Thought: "Now you have the tools to start building your own CNN models!"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449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Deep Learning</vt:lpstr>
      <vt:lpstr>Introduction to CNNs</vt:lpstr>
      <vt:lpstr>Basic Components of a CNN</vt:lpstr>
      <vt:lpstr>ReLU Layer</vt:lpstr>
      <vt:lpstr>Pooling Layer</vt:lpstr>
      <vt:lpstr>Flattening Layer</vt:lpstr>
      <vt:lpstr>Hands-on Practice: Build a CNN in Code</vt:lpstr>
      <vt:lpstr>Explanation of the code:</vt:lpstr>
      <vt:lpstr>Model Evaluation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</cp:revision>
  <dcterms:created xsi:type="dcterms:W3CDTF">2025-01-25T07:37:33Z</dcterms:created>
  <dcterms:modified xsi:type="dcterms:W3CDTF">2025-01-25T07:50:41Z</dcterms:modified>
</cp:coreProperties>
</file>